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" charset="1" panose="020F0502020204030204"/>
      <p:regular r:id="rId24"/>
    </p:embeddedFont>
    <p:embeddedFont>
      <p:font typeface="Calibri (MS) Bold" charset="1" panose="020F0702030404030204"/>
      <p:regular r:id="rId25"/>
    </p:embeddedFont>
    <p:embeddedFont>
      <p:font typeface="Sansation Bold" charset="1" panose="02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20298" y="2850966"/>
            <a:ext cx="10128044" cy="72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Behavioural Analytics Framework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6021" y="758280"/>
            <a:ext cx="14437859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8"/>
              </a:lnSpc>
              <a:spcBef>
                <a:spcPct val="0"/>
              </a:spcBef>
            </a:pPr>
            <a:r>
              <a:rPr lang="en-US" sz="6415" spc="19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EARLY WARNING SYSTEM FOR STUDENT BURNOUT &amp; DROPOUT RISK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20298" y="3580393"/>
            <a:ext cx="10128044" cy="77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2"/>
              </a:lnSpc>
              <a:spcBef>
                <a:spcPct val="0"/>
              </a:spcBef>
            </a:pPr>
            <a:r>
              <a:rPr lang="en-US" b="true" sz="3854" spc="115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Behavioural Analytics Hackathon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50928" y="4366971"/>
            <a:ext cx="10128044" cy="77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2"/>
              </a:lnSpc>
              <a:spcBef>
                <a:spcPct val="0"/>
              </a:spcBef>
            </a:pPr>
            <a:r>
              <a:rPr lang="en-US" b="true" sz="3854" spc="115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S.Bhavya sri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55519" y="5144023"/>
            <a:ext cx="12724653" cy="77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2"/>
              </a:lnSpc>
              <a:spcBef>
                <a:spcPct val="0"/>
              </a:spcBef>
            </a:pPr>
            <a:r>
              <a:rPr lang="en-US" b="true" sz="3854" spc="115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Vellore Institution of Technology - Chennai campus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52624" y="5982359"/>
            <a:ext cx="12724653" cy="77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2"/>
              </a:lnSpc>
              <a:spcBef>
                <a:spcPct val="0"/>
              </a:spcBef>
            </a:pPr>
            <a:r>
              <a:rPr lang="en-US" b="true" sz="3854" spc="115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28/2/26 to 1/3/26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04485" y="2390054"/>
            <a:ext cx="12070701" cy="599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2"/>
              </a:lnSpc>
            </a:pPr>
            <a:r>
              <a:rPr lang="en-US" b="true" sz="2854" spc="85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  <a:p>
            <a:pPr algn="l" marL="616384" indent="-308192" lvl="1">
              <a:lnSpc>
                <a:spcPts val="4282"/>
              </a:lnSpc>
              <a:buFont typeface="Arial"/>
              <a:buChar char="•"/>
            </a:pPr>
            <a:r>
              <a:rPr lang="en-US" sz="2854" spc="85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Universities detect burnout only after performance decline.</a:t>
            </a:r>
          </a:p>
          <a:p>
            <a:pPr algn="l" marL="616384" indent="-308192" lvl="1">
              <a:lnSpc>
                <a:spcPts val="4282"/>
              </a:lnSpc>
              <a:buFont typeface="Arial"/>
              <a:buChar char="•"/>
            </a:pPr>
            <a:r>
              <a:rPr lang="en-US" sz="2854" spc="85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Late intervention reduces effectiveness.</a:t>
            </a:r>
          </a:p>
          <a:p>
            <a:pPr algn="l" marL="616384" indent="-308192" lvl="1">
              <a:lnSpc>
                <a:spcPts val="4282"/>
              </a:lnSpc>
              <a:buFont typeface="Arial"/>
              <a:buChar char="•"/>
            </a:pPr>
            <a:r>
              <a:rPr lang="en-US" sz="2854" spc="85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Early behavioural signals often go unnoticed.</a:t>
            </a:r>
          </a:p>
          <a:p>
            <a:pPr algn="ctr">
              <a:lnSpc>
                <a:spcPts val="4282"/>
              </a:lnSpc>
            </a:pPr>
            <a:r>
              <a:rPr lang="en-US" b="true" sz="2854" spc="85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Challenge</a:t>
            </a:r>
          </a:p>
          <a:p>
            <a:pPr algn="ctr">
              <a:lnSpc>
                <a:spcPts val="4282"/>
              </a:lnSpc>
            </a:pPr>
            <a:r>
              <a:rPr lang="en-US" b="true" sz="2854" spc="85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a system that:</a:t>
            </a:r>
          </a:p>
          <a:p>
            <a:pPr algn="l" marL="616384" indent="-308192" lvl="1">
              <a:lnSpc>
                <a:spcPts val="4282"/>
              </a:lnSpc>
              <a:buFont typeface="Arial"/>
              <a:buChar char="•"/>
            </a:pPr>
            <a:r>
              <a:rPr lang="en-US" sz="2854" spc="85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Predicts Burnout Risk Level</a:t>
            </a:r>
          </a:p>
          <a:p>
            <a:pPr algn="l" marL="616384" indent="-308192" lvl="1">
              <a:lnSpc>
                <a:spcPts val="4282"/>
              </a:lnSpc>
              <a:buFont typeface="Arial"/>
              <a:buChar char="•"/>
            </a:pPr>
            <a:r>
              <a:rPr lang="en-US" sz="2854" spc="85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Detects Academic Disengagement</a:t>
            </a:r>
          </a:p>
          <a:p>
            <a:pPr algn="l" marL="616384" indent="-308192" lvl="1">
              <a:lnSpc>
                <a:spcPts val="4282"/>
              </a:lnSpc>
              <a:buFont typeface="Arial"/>
              <a:buChar char="•"/>
            </a:pPr>
            <a:r>
              <a:rPr lang="en-US" sz="2854" spc="85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Estimates Dropout Probability</a:t>
            </a:r>
          </a:p>
          <a:p>
            <a:pPr algn="l" marL="616384" indent="-308192" lvl="1">
              <a:lnSpc>
                <a:spcPts val="4282"/>
              </a:lnSpc>
              <a:buFont typeface="Arial"/>
              <a:buChar char="•"/>
            </a:pPr>
            <a:r>
              <a:rPr lang="en-US" sz="2854" spc="85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Suggests Intervention Strategy</a:t>
            </a:r>
          </a:p>
          <a:p>
            <a:pPr algn="ctr" marL="0" indent="0" lvl="0">
              <a:lnSpc>
                <a:spcPts val="428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490093" y="919075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06893" y="1602282"/>
            <a:ext cx="12070701" cy="833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Approach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 developed an AI-driven behavioural analytics system that: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Uses LMS activity patterns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Monitors attendance trends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Tracks assignment delays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Analyzes feedback sentiment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Generates Risk Score (0–100)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Risk Score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Risk Category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Behavioural Trigger Explanation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Intervention Recommendation</a:t>
            </a:r>
          </a:p>
          <a:p>
            <a:pPr algn="ctr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788337" y="357188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9372" y="58758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18584" y="2135813"/>
            <a:ext cx="11294324" cy="6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Type: Synthetic</a:t>
            </a:r>
          </a:p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Why?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Real LMS datasets are private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data is confidential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Ethical constraints</a:t>
            </a:r>
          </a:p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Summary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2000 Students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7 Behavioural Features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1 Target Variable</a:t>
            </a:r>
          </a:p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55352" y="2616743"/>
            <a:ext cx="9505569" cy="5928205"/>
          </a:xfrm>
          <a:custGeom>
            <a:avLst/>
            <a:gdLst/>
            <a:ahLst/>
            <a:cxnLst/>
            <a:rect r="r" b="b" t="t" l="l"/>
            <a:pathLst>
              <a:path h="5928205" w="9505569">
                <a:moveTo>
                  <a:pt x="0" y="0"/>
                </a:moveTo>
                <a:lnTo>
                  <a:pt x="9505570" y="0"/>
                </a:lnTo>
                <a:lnTo>
                  <a:pt x="9505570" y="5928204"/>
                </a:lnTo>
                <a:lnTo>
                  <a:pt x="0" y="59282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3791" y="890500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BEHAVIOURAL FEATURES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08650" y="2336747"/>
            <a:ext cx="12070701" cy="705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Burnout Risk Classification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 Risk: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Attendance &lt; 70%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Declining marks trend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High submission delays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Negative sentiment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Medium Risk: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Moderate behavioural decline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Risk: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Stable behaviour &amp; performance</a:t>
            </a:r>
          </a:p>
          <a:p>
            <a:pPr algn="l">
              <a:lnSpc>
                <a:spcPts val="50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76954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RISK LABEL LOGIC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9372" y="2629773"/>
            <a:ext cx="11155601" cy="450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Used: Random Forest Classifier</a:t>
            </a:r>
          </a:p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Random Forest?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Captures nonlinear behavioural patterns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structured data well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Robust to noise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feature importance (Explainable AI)</a:t>
            </a:r>
          </a:p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890500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SELECTION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63371" y="2593422"/>
            <a:ext cx="10822553" cy="705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 Metrics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98.75%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Recall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F1-Score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Confusion Matrix</a:t>
            </a:r>
          </a:p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Observation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High-risk students detected accurately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Minimal misclassification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predictive consistency</a:t>
            </a:r>
          </a:p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890500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PERFORMANCE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9372" y="1037691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BEHAVIOURAL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2842448"/>
            <a:ext cx="12027224" cy="6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Top 3 Behavioural Triggers</a:t>
            </a:r>
          </a:p>
          <a:p>
            <a:pPr algn="l" marL="724331" indent="-362166" lvl="1">
              <a:lnSpc>
                <a:spcPts val="5032"/>
              </a:lnSpc>
              <a:buAutoNum type="arabicPeriod" startAt="1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CAT Marks Trend</a:t>
            </a:r>
          </a:p>
          <a:p>
            <a:pPr algn="l" marL="724331" indent="-362166" lvl="1">
              <a:lnSpc>
                <a:spcPts val="5032"/>
              </a:lnSpc>
              <a:buAutoNum type="arabicPeriod" startAt="1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Attendance Rate</a:t>
            </a:r>
          </a:p>
          <a:p>
            <a:pPr algn="l" marL="724331" indent="-362166" lvl="1">
              <a:lnSpc>
                <a:spcPts val="5032"/>
              </a:lnSpc>
              <a:buAutoNum type="arabicPeriod" startAt="1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Feedback Sentiment Score</a:t>
            </a:r>
          </a:p>
          <a:p>
            <a:pPr algn="l">
              <a:lnSpc>
                <a:spcPts val="5032"/>
              </a:lnSpc>
            </a:pPr>
            <a:r>
              <a:rPr lang="en-US" sz="3354" spc="100" b="true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Insight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Academic decline is strongest burnout indicator.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Attendance reduction strongly correlates with disengagement.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Emotional negativity amplifies risk.</a:t>
            </a:r>
          </a:p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9372" y="2012777"/>
            <a:ext cx="12070701" cy="513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Features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Risk Prediction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Risk Score (0–100)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Intervention Suggestion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Top Behavioural Triggers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Downloadable Risk Report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Risk Distribution Visualization</a:t>
            </a:r>
          </a:p>
          <a:p>
            <a:pPr algn="l">
              <a:lnSpc>
                <a:spcPts val="50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58758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DEMONSTRATION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59263" y="2023975"/>
            <a:ext cx="11569473" cy="7283947"/>
          </a:xfrm>
          <a:custGeom>
            <a:avLst/>
            <a:gdLst/>
            <a:ahLst/>
            <a:cxnLst/>
            <a:rect r="r" b="b" t="t" l="l"/>
            <a:pathLst>
              <a:path h="7283947" w="11569473">
                <a:moveTo>
                  <a:pt x="0" y="0"/>
                </a:moveTo>
                <a:lnTo>
                  <a:pt x="11569474" y="0"/>
                </a:lnTo>
                <a:lnTo>
                  <a:pt x="11569474" y="7283947"/>
                </a:lnTo>
                <a:lnTo>
                  <a:pt x="0" y="72839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9372" y="58758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DEMONSTRATION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19155" y="2106827"/>
            <a:ext cx="11569473" cy="7283947"/>
          </a:xfrm>
          <a:custGeom>
            <a:avLst/>
            <a:gdLst/>
            <a:ahLst/>
            <a:cxnLst/>
            <a:rect r="r" b="b" t="t" l="l"/>
            <a:pathLst>
              <a:path h="7283947" w="11569473">
                <a:moveTo>
                  <a:pt x="0" y="0"/>
                </a:moveTo>
                <a:lnTo>
                  <a:pt x="11569473" y="0"/>
                </a:lnTo>
                <a:lnTo>
                  <a:pt x="11569473" y="7283947"/>
                </a:lnTo>
                <a:lnTo>
                  <a:pt x="0" y="72839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9372" y="58758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DEMONSTRATION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23400" y="2023975"/>
            <a:ext cx="11569473" cy="7283947"/>
          </a:xfrm>
          <a:custGeom>
            <a:avLst/>
            <a:gdLst/>
            <a:ahLst/>
            <a:cxnLst/>
            <a:rect r="r" b="b" t="t" l="l"/>
            <a:pathLst>
              <a:path h="7283947" w="11569473">
                <a:moveTo>
                  <a:pt x="0" y="0"/>
                </a:moveTo>
                <a:lnTo>
                  <a:pt x="11569474" y="0"/>
                </a:lnTo>
                <a:lnTo>
                  <a:pt x="11569474" y="7283947"/>
                </a:lnTo>
                <a:lnTo>
                  <a:pt x="0" y="72839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9372" y="58758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DEMONSTRATION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9372" y="2211038"/>
            <a:ext cx="12070701" cy="6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 Risk: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Immediate counselling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Faculty notification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Weekly monitoring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Medium Risk: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Academic reminders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Peer mentoring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Risk: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Stable monitoring</a:t>
            </a:r>
          </a:p>
          <a:p>
            <a:pPr algn="ctr">
              <a:lnSpc>
                <a:spcPts val="50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58758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INTERVENTION STRATEGY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9372" y="2204273"/>
            <a:ext cx="12070701" cy="705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system can be integrated into: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University LMS platforms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Academic monitoring systems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counselling dashboards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Institutional analytics frameworks</a:t>
            </a:r>
          </a:p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Early intervention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dropout rates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student wellbeing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Data-driven decision-making</a:t>
            </a:r>
          </a:p>
          <a:p>
            <a:pPr algn="ctr">
              <a:lnSpc>
                <a:spcPts val="50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587582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PRACTICAL FEASIBILITY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90537" y="3532733"/>
            <a:ext cx="12070701" cy="386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Real LMS integration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Time-series behavioural tracking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sentiment analysis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Faculty alert automation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Cloud deployment</a:t>
            </a:r>
          </a:p>
          <a:p>
            <a:pPr algn="ctr">
              <a:lnSpc>
                <a:spcPts val="50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1881100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ENHANCEMENTS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96021" y="3423414"/>
            <a:ext cx="15220112" cy="450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b="true" sz="3354" spc="100">
                <a:solidFill>
                  <a:srgbClr val="3F3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project demonstrates how behavioural analytics combined with machine learning can: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Detect burnout early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explainable risk insights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Enable proactive intervention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alibri (MS)"/>
                <a:ea typeface="Calibri (MS)"/>
                <a:cs typeface="Calibri (MS)"/>
                <a:sym typeface="Calibri (MS)"/>
              </a:rPr>
              <a:t>Transform reactive monitoring into predictive intelligence</a:t>
            </a:r>
          </a:p>
          <a:p>
            <a:pPr algn="l">
              <a:lnSpc>
                <a:spcPts val="503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9372" y="1881100"/>
            <a:ext cx="11689257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sz="6500" spc="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9372" y="5221503"/>
            <a:ext cx="1168925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69"/>
              </a:lnSpc>
              <a:spcBef>
                <a:spcPct val="0"/>
              </a:spcBef>
            </a:pPr>
            <a:r>
              <a:rPr lang="en-US" b="true" sz="11057" spc="11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61662" y="3370047"/>
            <a:ext cx="8964676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76"/>
              </a:lnSpc>
              <a:spcBef>
                <a:spcPct val="0"/>
              </a:spcBef>
            </a:pPr>
            <a:r>
              <a:rPr lang="en-US" b="true" sz="13313" spc="39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DAHCoJUttds</dc:identifier>
  <dcterms:modified xsi:type="dcterms:W3CDTF">2011-08-01T06:04:30Z</dcterms:modified>
  <cp:revision>1</cp:revision>
  <dc:title>Behavioural_Analytics_Hackathon_Early_Warning_System_Presentation.pptx</dc:title>
</cp:coreProperties>
</file>